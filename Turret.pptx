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4"/>
  </p:notesMasterIdLst>
  <p:sldIdLst>
    <p:sldId id="257" r:id="rId2"/>
    <p:sldId id="258" r:id="rId3"/>
  </p:sldIdLst>
  <p:sldSz cx="14039850" cy="28943300"/>
  <p:notesSz cx="12930188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17" userDrawn="1">
          <p15:clr>
            <a:srgbClr val="A4A3A4"/>
          </p15:clr>
        </p15:guide>
        <p15:guide id="2" pos="44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C95"/>
    <a:srgbClr val="F26A00"/>
    <a:srgbClr val="D81617"/>
    <a:srgbClr val="008B3A"/>
    <a:srgbClr val="028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5"/>
    <p:restoredTop sz="94610"/>
  </p:normalViewPr>
  <p:slideViewPr>
    <p:cSldViewPr snapToGrid="0" snapToObjects="1">
      <p:cViewPr>
        <p:scale>
          <a:sx n="25" d="100"/>
          <a:sy n="25" d="100"/>
        </p:scale>
        <p:origin x="4064" y="448"/>
      </p:cViewPr>
      <p:guideLst>
        <p:guide orient="horz" pos="9117"/>
        <p:guide pos="44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41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1pPr>
    <a:lvl2pPr marL="949656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2pPr>
    <a:lvl3pPr marL="1899311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3pPr>
    <a:lvl4pPr marL="2848967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4pPr>
    <a:lvl5pPr marL="3798623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5pPr>
    <a:lvl6pPr marL="4748278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6pPr>
    <a:lvl7pPr marL="5697934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7pPr>
    <a:lvl8pPr marL="6647580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8pPr>
    <a:lvl9pPr marL="7597236" algn="l" defTabSz="1899311" rtl="0" eaLnBrk="1" latinLnBrk="0" hangingPunct="1">
      <a:defRPr sz="24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6694-A364-EDC0-0652-EF1A5256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A6DAC-56C8-05B1-13F8-E4A0F46CF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314BE-4787-7410-54B7-3619BE296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D3B9B-04FB-F549-86A1-79907BD99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91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2989" y="4736788"/>
            <a:ext cx="11933873" cy="10076556"/>
          </a:xfrm>
        </p:spPr>
        <p:txBody>
          <a:bodyPr anchor="b"/>
          <a:lstStyle>
            <a:lvl1pPr algn="ctr">
              <a:defRPr sz="9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4981" y="15201934"/>
            <a:ext cx="10529888" cy="6987929"/>
          </a:xfrm>
        </p:spPr>
        <p:txBody>
          <a:bodyPr/>
          <a:lstStyle>
            <a:lvl1pPr marL="0" indent="0" algn="ctr">
              <a:buNone/>
              <a:defRPr sz="3685"/>
            </a:lvl1pPr>
            <a:lvl2pPr marL="701985" indent="0" algn="ctr">
              <a:buNone/>
              <a:defRPr sz="3071"/>
            </a:lvl2pPr>
            <a:lvl3pPr marL="1403970" indent="0" algn="ctr">
              <a:buNone/>
              <a:defRPr sz="2764"/>
            </a:lvl3pPr>
            <a:lvl4pPr marL="2105955" indent="0" algn="ctr">
              <a:buNone/>
              <a:defRPr sz="2457"/>
            </a:lvl4pPr>
            <a:lvl5pPr marL="2807940" indent="0" algn="ctr">
              <a:buNone/>
              <a:defRPr sz="2457"/>
            </a:lvl5pPr>
            <a:lvl6pPr marL="3509924" indent="0" algn="ctr">
              <a:buNone/>
              <a:defRPr sz="2457"/>
            </a:lvl6pPr>
            <a:lvl7pPr marL="4211909" indent="0" algn="ctr">
              <a:buNone/>
              <a:defRPr sz="2457"/>
            </a:lvl7pPr>
            <a:lvl8pPr marL="4913894" indent="0" algn="ctr">
              <a:buNone/>
              <a:defRPr sz="2457"/>
            </a:lvl8pPr>
            <a:lvl9pPr marL="5615879" indent="0" algn="ctr">
              <a:buNone/>
              <a:defRPr sz="245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919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878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928" y="7215734"/>
            <a:ext cx="12109371" cy="12039607"/>
          </a:xfrm>
        </p:spPr>
        <p:txBody>
          <a:bodyPr anchor="b"/>
          <a:lstStyle>
            <a:lvl1pPr>
              <a:defRPr sz="9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928" y="19369240"/>
            <a:ext cx="12109371" cy="6331345"/>
          </a:xfrm>
        </p:spPr>
        <p:txBody>
          <a:bodyPr/>
          <a:lstStyle>
            <a:lvl1pPr marL="0" indent="0">
              <a:buNone/>
              <a:defRPr sz="3685">
                <a:solidFill>
                  <a:schemeClr val="tx1"/>
                </a:solidFill>
              </a:defRPr>
            </a:lvl1pPr>
            <a:lvl2pPr marL="701985" indent="0">
              <a:buNone/>
              <a:defRPr sz="3071">
                <a:solidFill>
                  <a:schemeClr val="tx1">
                    <a:tint val="75000"/>
                  </a:schemeClr>
                </a:solidFill>
              </a:defRPr>
            </a:lvl2pPr>
            <a:lvl3pPr marL="1403970" indent="0">
              <a:buNone/>
              <a:defRPr sz="2764">
                <a:solidFill>
                  <a:schemeClr val="tx1">
                    <a:tint val="75000"/>
                  </a:schemeClr>
                </a:solidFill>
              </a:defRPr>
            </a:lvl3pPr>
            <a:lvl4pPr marL="2105955" indent="0">
              <a:buNone/>
              <a:defRPr sz="2457">
                <a:solidFill>
                  <a:schemeClr val="tx1">
                    <a:tint val="75000"/>
                  </a:schemeClr>
                </a:solidFill>
              </a:defRPr>
            </a:lvl4pPr>
            <a:lvl5pPr marL="2807940" indent="0">
              <a:buNone/>
              <a:defRPr sz="2457">
                <a:solidFill>
                  <a:schemeClr val="tx1">
                    <a:tint val="75000"/>
                  </a:schemeClr>
                </a:solidFill>
              </a:defRPr>
            </a:lvl5pPr>
            <a:lvl6pPr marL="3509924" indent="0">
              <a:buNone/>
              <a:defRPr sz="2457">
                <a:solidFill>
                  <a:schemeClr val="tx1">
                    <a:tint val="75000"/>
                  </a:schemeClr>
                </a:solidFill>
              </a:defRPr>
            </a:lvl6pPr>
            <a:lvl7pPr marL="4211909" indent="0">
              <a:buNone/>
              <a:defRPr sz="2457">
                <a:solidFill>
                  <a:schemeClr val="tx1">
                    <a:tint val="75000"/>
                  </a:schemeClr>
                </a:solidFill>
              </a:defRPr>
            </a:lvl7pPr>
            <a:lvl8pPr marL="4913894" indent="0">
              <a:buNone/>
              <a:defRPr sz="2457">
                <a:solidFill>
                  <a:schemeClr val="tx1">
                    <a:tint val="75000"/>
                  </a:schemeClr>
                </a:solidFill>
              </a:defRPr>
            </a:lvl8pPr>
            <a:lvl9pPr marL="5615879" indent="0">
              <a:buNone/>
              <a:defRPr sz="24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8873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5240" y="7704814"/>
            <a:ext cx="5966936" cy="183642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7674" y="7704814"/>
            <a:ext cx="5966936" cy="183642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267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8" y="1540969"/>
            <a:ext cx="12109371" cy="55943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070" y="7095130"/>
            <a:ext cx="5939514" cy="3477214"/>
          </a:xfrm>
        </p:spPr>
        <p:txBody>
          <a:bodyPr anchor="b"/>
          <a:lstStyle>
            <a:lvl1pPr marL="0" indent="0">
              <a:buNone/>
              <a:defRPr sz="3685" b="1"/>
            </a:lvl1pPr>
            <a:lvl2pPr marL="701985" indent="0">
              <a:buNone/>
              <a:defRPr sz="3071" b="1"/>
            </a:lvl2pPr>
            <a:lvl3pPr marL="1403970" indent="0">
              <a:buNone/>
              <a:defRPr sz="2764" b="1"/>
            </a:lvl3pPr>
            <a:lvl4pPr marL="2105955" indent="0">
              <a:buNone/>
              <a:defRPr sz="2457" b="1"/>
            </a:lvl4pPr>
            <a:lvl5pPr marL="2807940" indent="0">
              <a:buNone/>
              <a:defRPr sz="2457" b="1"/>
            </a:lvl5pPr>
            <a:lvl6pPr marL="3509924" indent="0">
              <a:buNone/>
              <a:defRPr sz="2457" b="1"/>
            </a:lvl6pPr>
            <a:lvl7pPr marL="4211909" indent="0">
              <a:buNone/>
              <a:defRPr sz="2457" b="1"/>
            </a:lvl7pPr>
            <a:lvl8pPr marL="4913894" indent="0">
              <a:buNone/>
              <a:defRPr sz="2457" b="1"/>
            </a:lvl8pPr>
            <a:lvl9pPr marL="5615879" indent="0">
              <a:buNone/>
              <a:defRPr sz="245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7070" y="10572344"/>
            <a:ext cx="5939514" cy="155503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07675" y="7095130"/>
            <a:ext cx="5968765" cy="3477214"/>
          </a:xfrm>
        </p:spPr>
        <p:txBody>
          <a:bodyPr anchor="b"/>
          <a:lstStyle>
            <a:lvl1pPr marL="0" indent="0">
              <a:buNone/>
              <a:defRPr sz="3685" b="1"/>
            </a:lvl1pPr>
            <a:lvl2pPr marL="701985" indent="0">
              <a:buNone/>
              <a:defRPr sz="3071" b="1"/>
            </a:lvl2pPr>
            <a:lvl3pPr marL="1403970" indent="0">
              <a:buNone/>
              <a:defRPr sz="2764" b="1"/>
            </a:lvl3pPr>
            <a:lvl4pPr marL="2105955" indent="0">
              <a:buNone/>
              <a:defRPr sz="2457" b="1"/>
            </a:lvl4pPr>
            <a:lvl5pPr marL="2807940" indent="0">
              <a:buNone/>
              <a:defRPr sz="2457" b="1"/>
            </a:lvl5pPr>
            <a:lvl6pPr marL="3509924" indent="0">
              <a:buNone/>
              <a:defRPr sz="2457" b="1"/>
            </a:lvl6pPr>
            <a:lvl7pPr marL="4211909" indent="0">
              <a:buNone/>
              <a:defRPr sz="2457" b="1"/>
            </a:lvl7pPr>
            <a:lvl8pPr marL="4913894" indent="0">
              <a:buNone/>
              <a:defRPr sz="2457" b="1"/>
            </a:lvl8pPr>
            <a:lvl9pPr marL="5615879" indent="0">
              <a:buNone/>
              <a:defRPr sz="245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07675" y="10572344"/>
            <a:ext cx="5968765" cy="155503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013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684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0306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8" y="1929553"/>
            <a:ext cx="4528217" cy="6753437"/>
          </a:xfrm>
        </p:spPr>
        <p:txBody>
          <a:bodyPr anchor="b"/>
          <a:lstStyle>
            <a:lvl1pPr>
              <a:defRPr sz="49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8765" y="4167305"/>
            <a:ext cx="7107674" cy="20568503"/>
          </a:xfrm>
        </p:spPr>
        <p:txBody>
          <a:bodyPr/>
          <a:lstStyle>
            <a:lvl1pPr>
              <a:defRPr sz="4913"/>
            </a:lvl1pPr>
            <a:lvl2pPr>
              <a:defRPr sz="4299"/>
            </a:lvl2pPr>
            <a:lvl3pPr>
              <a:defRPr sz="3685"/>
            </a:lvl3pPr>
            <a:lvl4pPr>
              <a:defRPr sz="3071"/>
            </a:lvl4pPr>
            <a:lvl5pPr>
              <a:defRPr sz="3071"/>
            </a:lvl5pPr>
            <a:lvl6pPr>
              <a:defRPr sz="3071"/>
            </a:lvl6pPr>
            <a:lvl7pPr>
              <a:defRPr sz="3071"/>
            </a:lvl7pPr>
            <a:lvl8pPr>
              <a:defRPr sz="3071"/>
            </a:lvl8pPr>
            <a:lvl9pPr>
              <a:defRPr sz="30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068" y="8682990"/>
            <a:ext cx="4528217" cy="16086313"/>
          </a:xfrm>
        </p:spPr>
        <p:txBody>
          <a:bodyPr/>
          <a:lstStyle>
            <a:lvl1pPr marL="0" indent="0">
              <a:buNone/>
              <a:defRPr sz="2457"/>
            </a:lvl1pPr>
            <a:lvl2pPr marL="701985" indent="0">
              <a:buNone/>
              <a:defRPr sz="2150"/>
            </a:lvl2pPr>
            <a:lvl3pPr marL="1403970" indent="0">
              <a:buNone/>
              <a:defRPr sz="1842"/>
            </a:lvl3pPr>
            <a:lvl4pPr marL="2105955" indent="0">
              <a:buNone/>
              <a:defRPr sz="1535"/>
            </a:lvl4pPr>
            <a:lvl5pPr marL="2807940" indent="0">
              <a:buNone/>
              <a:defRPr sz="1535"/>
            </a:lvl5pPr>
            <a:lvl6pPr marL="3509924" indent="0">
              <a:buNone/>
              <a:defRPr sz="1535"/>
            </a:lvl6pPr>
            <a:lvl7pPr marL="4211909" indent="0">
              <a:buNone/>
              <a:defRPr sz="1535"/>
            </a:lvl7pPr>
            <a:lvl8pPr marL="4913894" indent="0">
              <a:buNone/>
              <a:defRPr sz="1535"/>
            </a:lvl8pPr>
            <a:lvl9pPr marL="5615879" indent="0">
              <a:buNone/>
              <a:defRPr sz="15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0708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8" y="1929553"/>
            <a:ext cx="4528217" cy="6753437"/>
          </a:xfrm>
        </p:spPr>
        <p:txBody>
          <a:bodyPr anchor="b"/>
          <a:lstStyle>
            <a:lvl1pPr>
              <a:defRPr sz="49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68765" y="4167305"/>
            <a:ext cx="7107674" cy="20568503"/>
          </a:xfrm>
        </p:spPr>
        <p:txBody>
          <a:bodyPr anchor="t"/>
          <a:lstStyle>
            <a:lvl1pPr marL="0" indent="0">
              <a:buNone/>
              <a:defRPr sz="4913"/>
            </a:lvl1pPr>
            <a:lvl2pPr marL="701985" indent="0">
              <a:buNone/>
              <a:defRPr sz="4299"/>
            </a:lvl2pPr>
            <a:lvl3pPr marL="1403970" indent="0">
              <a:buNone/>
              <a:defRPr sz="3685"/>
            </a:lvl3pPr>
            <a:lvl4pPr marL="2105955" indent="0">
              <a:buNone/>
              <a:defRPr sz="3071"/>
            </a:lvl4pPr>
            <a:lvl5pPr marL="2807940" indent="0">
              <a:buNone/>
              <a:defRPr sz="3071"/>
            </a:lvl5pPr>
            <a:lvl6pPr marL="3509924" indent="0">
              <a:buNone/>
              <a:defRPr sz="3071"/>
            </a:lvl6pPr>
            <a:lvl7pPr marL="4211909" indent="0">
              <a:buNone/>
              <a:defRPr sz="3071"/>
            </a:lvl7pPr>
            <a:lvl8pPr marL="4913894" indent="0">
              <a:buNone/>
              <a:defRPr sz="3071"/>
            </a:lvl8pPr>
            <a:lvl9pPr marL="5615879" indent="0">
              <a:buNone/>
              <a:defRPr sz="3071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068" y="8682990"/>
            <a:ext cx="4528217" cy="16086313"/>
          </a:xfrm>
        </p:spPr>
        <p:txBody>
          <a:bodyPr/>
          <a:lstStyle>
            <a:lvl1pPr marL="0" indent="0">
              <a:buNone/>
              <a:defRPr sz="2457"/>
            </a:lvl1pPr>
            <a:lvl2pPr marL="701985" indent="0">
              <a:buNone/>
              <a:defRPr sz="2150"/>
            </a:lvl2pPr>
            <a:lvl3pPr marL="1403970" indent="0">
              <a:buNone/>
              <a:defRPr sz="1842"/>
            </a:lvl3pPr>
            <a:lvl4pPr marL="2105955" indent="0">
              <a:buNone/>
              <a:defRPr sz="1535"/>
            </a:lvl4pPr>
            <a:lvl5pPr marL="2807940" indent="0">
              <a:buNone/>
              <a:defRPr sz="1535"/>
            </a:lvl5pPr>
            <a:lvl6pPr marL="3509924" indent="0">
              <a:buNone/>
              <a:defRPr sz="1535"/>
            </a:lvl6pPr>
            <a:lvl7pPr marL="4211909" indent="0">
              <a:buNone/>
              <a:defRPr sz="1535"/>
            </a:lvl7pPr>
            <a:lvl8pPr marL="4913894" indent="0">
              <a:buNone/>
              <a:defRPr sz="1535"/>
            </a:lvl8pPr>
            <a:lvl9pPr marL="5615879" indent="0">
              <a:buNone/>
              <a:defRPr sz="15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260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725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7268" y="1540963"/>
            <a:ext cx="3027343" cy="2452810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5240" y="1540963"/>
            <a:ext cx="8906530" cy="2452810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1824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00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5240" y="1540969"/>
            <a:ext cx="12109371" cy="5594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240" y="7704814"/>
            <a:ext cx="12109371" cy="18364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5240" y="26826157"/>
            <a:ext cx="3158966" cy="15409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0701" y="26826157"/>
            <a:ext cx="4738449" cy="15409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5644" y="26826157"/>
            <a:ext cx="3158966" cy="15409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1403970" rtl="0" eaLnBrk="1" latinLnBrk="0" hangingPunct="1">
        <a:lnSpc>
          <a:spcPct val="90000"/>
        </a:lnSpc>
        <a:spcBef>
          <a:spcPct val="0"/>
        </a:spcBef>
        <a:buNone/>
        <a:defRPr sz="67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0992" indent="-350992" algn="l" defTabSz="1403970" rtl="0" eaLnBrk="1" latinLnBrk="0" hangingPunct="1">
        <a:lnSpc>
          <a:spcPct val="90000"/>
        </a:lnSpc>
        <a:spcBef>
          <a:spcPts val="1535"/>
        </a:spcBef>
        <a:buFont typeface="Arial" panose="020B0604020202020204" pitchFamily="34" charset="0"/>
        <a:buChar char="•"/>
        <a:defRPr sz="4299" kern="1200">
          <a:solidFill>
            <a:schemeClr val="tx1"/>
          </a:solidFill>
          <a:latin typeface="+mn-lt"/>
          <a:ea typeface="+mn-ea"/>
          <a:cs typeface="+mn-cs"/>
        </a:defRPr>
      </a:lvl1pPr>
      <a:lvl2pPr marL="1052977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2pPr>
      <a:lvl3pPr marL="1754962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3071" kern="1200">
          <a:solidFill>
            <a:schemeClr val="tx1"/>
          </a:solidFill>
          <a:latin typeface="+mn-lt"/>
          <a:ea typeface="+mn-ea"/>
          <a:cs typeface="+mn-cs"/>
        </a:defRPr>
      </a:lvl3pPr>
      <a:lvl4pPr marL="2456947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2764" kern="1200">
          <a:solidFill>
            <a:schemeClr val="tx1"/>
          </a:solidFill>
          <a:latin typeface="+mn-lt"/>
          <a:ea typeface="+mn-ea"/>
          <a:cs typeface="+mn-cs"/>
        </a:defRPr>
      </a:lvl4pPr>
      <a:lvl5pPr marL="3158932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2764" kern="1200">
          <a:solidFill>
            <a:schemeClr val="tx1"/>
          </a:solidFill>
          <a:latin typeface="+mn-lt"/>
          <a:ea typeface="+mn-ea"/>
          <a:cs typeface="+mn-cs"/>
        </a:defRPr>
      </a:lvl5pPr>
      <a:lvl6pPr marL="3860917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2764" kern="1200">
          <a:solidFill>
            <a:schemeClr val="tx1"/>
          </a:solidFill>
          <a:latin typeface="+mn-lt"/>
          <a:ea typeface="+mn-ea"/>
          <a:cs typeface="+mn-cs"/>
        </a:defRPr>
      </a:lvl6pPr>
      <a:lvl7pPr marL="4562902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2764" kern="1200">
          <a:solidFill>
            <a:schemeClr val="tx1"/>
          </a:solidFill>
          <a:latin typeface="+mn-lt"/>
          <a:ea typeface="+mn-ea"/>
          <a:cs typeface="+mn-cs"/>
        </a:defRPr>
      </a:lvl7pPr>
      <a:lvl8pPr marL="5264887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2764" kern="1200">
          <a:solidFill>
            <a:schemeClr val="tx1"/>
          </a:solidFill>
          <a:latin typeface="+mn-lt"/>
          <a:ea typeface="+mn-ea"/>
          <a:cs typeface="+mn-cs"/>
        </a:defRPr>
      </a:lvl8pPr>
      <a:lvl9pPr marL="5966871" indent="-350992" algn="l" defTabSz="1403970" rtl="0" eaLnBrk="1" latinLnBrk="0" hangingPunct="1">
        <a:lnSpc>
          <a:spcPct val="90000"/>
        </a:lnSpc>
        <a:spcBef>
          <a:spcPts val="768"/>
        </a:spcBef>
        <a:buFont typeface="Arial" panose="020B0604020202020204" pitchFamily="34" charset="0"/>
        <a:buChar char="•"/>
        <a:defRPr sz="27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2pPr>
      <a:lvl3pPr marL="1403970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3pPr>
      <a:lvl4pPr marL="2105955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4pPr>
      <a:lvl5pPr marL="2807940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5pPr>
      <a:lvl6pPr marL="3509924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6pPr>
      <a:lvl7pPr marL="4211909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7pPr>
      <a:lvl8pPr marL="4913894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8pPr>
      <a:lvl9pPr marL="5615879" algn="l" defTabSz="1403970" rtl="0" eaLnBrk="1" latinLnBrk="0" hangingPunct="1">
        <a:defRPr sz="27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CCF1C-4219-4D48-4CDB-483BBF57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58">
            <a:extLst>
              <a:ext uri="{FF2B5EF4-FFF2-40B4-BE49-F238E27FC236}">
                <a16:creationId xmlns:a16="http://schemas.microsoft.com/office/drawing/2014/main" id="{892B4460-E242-5413-F42C-DEF1E78553EF}"/>
              </a:ext>
            </a:extLst>
          </p:cNvPr>
          <p:cNvSpPr/>
          <p:nvPr/>
        </p:nvSpPr>
        <p:spPr>
          <a:xfrm>
            <a:off x="1283896" y="17418012"/>
            <a:ext cx="11719560" cy="232249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71B75B2-62B1-EE36-6E38-0FDCE5D2FD64}"/>
              </a:ext>
            </a:extLst>
          </p:cNvPr>
          <p:cNvSpPr/>
          <p:nvPr/>
        </p:nvSpPr>
        <p:spPr>
          <a:xfrm>
            <a:off x="1299537" y="5877911"/>
            <a:ext cx="11721685" cy="1762079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052C63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BE1962-D6ED-DD4D-0D20-B47BC9195BD8}"/>
              </a:ext>
            </a:extLst>
          </p:cNvPr>
          <p:cNvSpPr/>
          <p:nvPr/>
        </p:nvSpPr>
        <p:spPr>
          <a:xfrm>
            <a:off x="1299537" y="5877911"/>
            <a:ext cx="11721685" cy="485210"/>
          </a:xfrm>
          <a:prstGeom prst="rect">
            <a:avLst/>
          </a:prstGeom>
          <a:solidFill>
            <a:srgbClr val="052C63"/>
          </a:solidFill>
          <a:ln w="12700">
            <a:solidFill>
              <a:srgbClr val="052C63"/>
            </a:solidFill>
            <a:prstDash val="solid"/>
          </a:ln>
        </p:spPr>
        <p:txBody>
          <a:bodyPr/>
          <a:lstStyle/>
          <a:p>
            <a:pPr algn="ctr"/>
            <a:r>
              <a:rPr lang="en-GB" sz="857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Scene and Safety Management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370F4F-6F73-A2EC-043D-75017E7690D1}"/>
              </a:ext>
            </a:extLst>
          </p:cNvPr>
          <p:cNvSpPr/>
          <p:nvPr/>
        </p:nvSpPr>
        <p:spPr>
          <a:xfrm>
            <a:off x="1602300" y="6490804"/>
            <a:ext cx="3332242" cy="1098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Upon arrival</a:t>
            </a:r>
          </a:p>
          <a:p>
            <a:endParaRPr lang="en-US" sz="1396" dirty="0">
              <a:solidFill>
                <a:srgbClr val="111111"/>
              </a:solidFill>
              <a:latin typeface="Calibri" panose="020F0502020204030204" pitchFamily="34" charset="0"/>
              <a:ea typeface="Arial" pitchFamily="34" charset="-122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Note time of arrival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Tell control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Call for help or backup early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FBB5300-C38C-F9E9-B5A8-0DF898C476DC}"/>
              </a:ext>
            </a:extLst>
          </p:cNvPr>
          <p:cNvSpPr/>
          <p:nvPr/>
        </p:nvSpPr>
        <p:spPr>
          <a:xfrm>
            <a:off x="4934529" y="6254116"/>
            <a:ext cx="0" cy="1379026"/>
          </a:xfrm>
          <a:prstGeom prst="line">
            <a:avLst/>
          </a:prstGeom>
          <a:noFill/>
          <a:ln w="8890">
            <a:solidFill>
              <a:srgbClr val="052C6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8B1D36-D022-EC4F-C43D-1DA6AC841D9F}"/>
              </a:ext>
            </a:extLst>
          </p:cNvPr>
          <p:cNvSpPr/>
          <p:nvPr/>
        </p:nvSpPr>
        <p:spPr>
          <a:xfrm>
            <a:off x="9417960" y="6490798"/>
            <a:ext cx="3603266" cy="104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Read the scene</a:t>
            </a:r>
          </a:p>
          <a:p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Consider the Mechanism of Injury (MOI)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90% diagnosis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9455F77-7D51-B965-B943-F7B727B5761D}"/>
              </a:ext>
            </a:extLst>
          </p:cNvPr>
          <p:cNvSpPr/>
          <p:nvPr/>
        </p:nvSpPr>
        <p:spPr>
          <a:xfrm>
            <a:off x="1283896" y="7876210"/>
            <a:ext cx="11735201" cy="1464915"/>
          </a:xfrm>
          <a:prstGeom prst="roundRect">
            <a:avLst>
              <a:gd name="adj" fmla="val 2791"/>
            </a:avLst>
          </a:prstGeom>
          <a:solidFill>
            <a:srgbClr val="FFF7E6"/>
          </a:solidFill>
          <a:ln w="15240">
            <a:solidFill>
              <a:srgbClr val="F2B30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BA6FB47-907B-D80B-D80C-3C4226D9C04E}"/>
              </a:ext>
            </a:extLst>
          </p:cNvPr>
          <p:cNvSpPr/>
          <p:nvPr/>
        </p:nvSpPr>
        <p:spPr>
          <a:xfrm>
            <a:off x="1283896" y="7876209"/>
            <a:ext cx="11735201" cy="408597"/>
          </a:xfrm>
          <a:prstGeom prst="rect">
            <a:avLst/>
          </a:prstGeom>
          <a:solidFill>
            <a:srgbClr val="FFD24D"/>
          </a:solidFill>
          <a:ln w="12700">
            <a:solidFill>
              <a:srgbClr val="FFD24D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7" b="1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Primary order of first aid: CABCDE</a:t>
            </a:r>
            <a:endParaRPr lang="en-US" sz="85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3B0A0FD-4930-FC51-CEC8-EA1A5F610FEF}"/>
              </a:ext>
            </a:extLst>
          </p:cNvPr>
          <p:cNvSpPr/>
          <p:nvPr/>
        </p:nvSpPr>
        <p:spPr>
          <a:xfrm>
            <a:off x="1670565" y="8456556"/>
            <a:ext cx="1518169" cy="678651"/>
          </a:xfrm>
          <a:prstGeom prst="roundRect">
            <a:avLst>
              <a:gd name="adj" fmla="val 20833"/>
            </a:avLst>
          </a:prstGeom>
          <a:solidFill>
            <a:srgbClr val="D81617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GB" sz="279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2CD2AF5-45E5-99EF-C5E4-44FA055BF1AC}"/>
              </a:ext>
            </a:extLst>
          </p:cNvPr>
          <p:cNvSpPr/>
          <p:nvPr/>
        </p:nvSpPr>
        <p:spPr>
          <a:xfrm>
            <a:off x="3542372" y="8456556"/>
            <a:ext cx="1518169" cy="678651"/>
          </a:xfrm>
          <a:prstGeom prst="roundRect">
            <a:avLst>
              <a:gd name="adj" fmla="val 20833"/>
            </a:avLst>
          </a:prstGeom>
          <a:solidFill>
            <a:srgbClr val="F26A0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GB" sz="279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4072890-62A8-8B2D-F61E-5F4C1F31A4CE}"/>
              </a:ext>
            </a:extLst>
          </p:cNvPr>
          <p:cNvSpPr/>
          <p:nvPr/>
        </p:nvSpPr>
        <p:spPr>
          <a:xfrm>
            <a:off x="5414189" y="8456556"/>
            <a:ext cx="1518169" cy="678651"/>
          </a:xfrm>
          <a:prstGeom prst="roundRect">
            <a:avLst>
              <a:gd name="adj" fmla="val 20833"/>
            </a:avLst>
          </a:prstGeom>
          <a:solidFill>
            <a:srgbClr val="7030A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GB" sz="279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3433311-A704-9514-2588-A0FEB4C06A64}"/>
              </a:ext>
            </a:extLst>
          </p:cNvPr>
          <p:cNvSpPr/>
          <p:nvPr/>
        </p:nvSpPr>
        <p:spPr>
          <a:xfrm>
            <a:off x="9157804" y="8456556"/>
            <a:ext cx="1518169" cy="678651"/>
          </a:xfrm>
          <a:prstGeom prst="roundRect">
            <a:avLst>
              <a:gd name="adj" fmla="val 20833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GB" sz="279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83189AA-2B60-9C7C-4A84-B3580A64DFB7}"/>
              </a:ext>
            </a:extLst>
          </p:cNvPr>
          <p:cNvSpPr/>
          <p:nvPr/>
        </p:nvSpPr>
        <p:spPr>
          <a:xfrm>
            <a:off x="11029621" y="8456556"/>
            <a:ext cx="1518169" cy="678651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GB" sz="279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486595D-B781-B772-A3B3-E91C10A6E1DD}"/>
              </a:ext>
            </a:extLst>
          </p:cNvPr>
          <p:cNvSpPr/>
          <p:nvPr/>
        </p:nvSpPr>
        <p:spPr>
          <a:xfrm>
            <a:off x="1299537" y="10161814"/>
            <a:ext cx="11719560" cy="189017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D81717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91A01C1-D9E0-C34A-7232-C4A85A3569CE}"/>
              </a:ext>
            </a:extLst>
          </p:cNvPr>
          <p:cNvSpPr/>
          <p:nvPr/>
        </p:nvSpPr>
        <p:spPr>
          <a:xfrm>
            <a:off x="1299537" y="10161814"/>
            <a:ext cx="3532537" cy="472447"/>
          </a:xfrm>
          <a:prstGeom prst="rect">
            <a:avLst/>
          </a:prstGeom>
          <a:solidFill>
            <a:srgbClr val="D81717"/>
          </a:solidFill>
          <a:ln w="12700">
            <a:solidFill>
              <a:srgbClr val="D81717"/>
            </a:solidFill>
            <a:prstDash val="solid"/>
          </a:ln>
        </p:spPr>
        <p:txBody>
          <a:bodyPr anchor="ctr"/>
          <a:lstStyle/>
          <a:p>
            <a:r>
              <a:rPr lang="en-GB" sz="857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 - </a:t>
            </a:r>
            <a:r>
              <a:rPr lang="en-GB" sz="857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Catastrophic bleeding</a:t>
            </a: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5DB518F-ACF4-577E-161E-6A29B61E3D56}"/>
              </a:ext>
            </a:extLst>
          </p:cNvPr>
          <p:cNvSpPr/>
          <p:nvPr/>
        </p:nvSpPr>
        <p:spPr>
          <a:xfrm>
            <a:off x="1417116" y="10782017"/>
            <a:ext cx="3458554" cy="1191126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pPr algn="ctr"/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Tourniquet</a:t>
            </a:r>
          </a:p>
          <a:p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single loop onto skin 2 inches above wound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double loop (thigh)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continued bleed may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need 2 tourniquets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07F13D4-6B44-4CA0-9994-F23AC0CFD70A}"/>
              </a:ext>
            </a:extLst>
          </p:cNvPr>
          <p:cNvSpPr/>
          <p:nvPr/>
        </p:nvSpPr>
        <p:spPr>
          <a:xfrm>
            <a:off x="8210679" y="10311981"/>
            <a:ext cx="2321496" cy="1624684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4 points of alignment</a:t>
            </a:r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Nose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Sternum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“fluffy bits”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Eyes looking forward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3B69868-F6EE-F45D-4A08-16EF142C532C}"/>
              </a:ext>
            </a:extLst>
          </p:cNvPr>
          <p:cNvSpPr/>
          <p:nvPr/>
        </p:nvSpPr>
        <p:spPr>
          <a:xfrm>
            <a:off x="10500986" y="10287021"/>
            <a:ext cx="2384043" cy="1634398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Establish</a:t>
            </a:r>
            <a:r>
              <a:rPr lang="en-US" sz="1396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level of consciousness</a:t>
            </a:r>
          </a:p>
          <a:p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lert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onfused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V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erbal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ain (airway concern)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U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nresponsive to pain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9C631BA9-6FAB-E89A-FF2F-9905892E1B62}"/>
              </a:ext>
            </a:extLst>
          </p:cNvPr>
          <p:cNvSpPr/>
          <p:nvPr/>
        </p:nvSpPr>
        <p:spPr>
          <a:xfrm>
            <a:off x="1283896" y="12302784"/>
            <a:ext cx="11719560" cy="2323911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F26A0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B41667E-44C6-DA1D-0FAA-C0830F6DCAE9}"/>
              </a:ext>
            </a:extLst>
          </p:cNvPr>
          <p:cNvSpPr/>
          <p:nvPr/>
        </p:nvSpPr>
        <p:spPr>
          <a:xfrm>
            <a:off x="1299537" y="12313342"/>
            <a:ext cx="3532537" cy="472542"/>
          </a:xfrm>
          <a:prstGeom prst="rect">
            <a:avLst/>
          </a:prstGeom>
          <a:solidFill>
            <a:srgbClr val="F26A00"/>
          </a:solidFill>
          <a:ln w="12700">
            <a:solidFill>
              <a:srgbClr val="F26A00"/>
            </a:solidFill>
            <a:prstDash val="solid"/>
          </a:ln>
        </p:spPr>
        <p:txBody>
          <a:bodyPr anchor="ctr"/>
          <a:lstStyle/>
          <a:p>
            <a:r>
              <a:rPr lang="en-GB" sz="857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- </a:t>
            </a:r>
            <a:r>
              <a:rPr lang="en-GB" sz="857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Airway</a:t>
            </a: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25ADA9E-2ACB-9778-F98D-0168C1F37B13}"/>
              </a:ext>
            </a:extLst>
          </p:cNvPr>
          <p:cNvSpPr/>
          <p:nvPr/>
        </p:nvSpPr>
        <p:spPr>
          <a:xfrm>
            <a:off x="4847715" y="12307360"/>
            <a:ext cx="2407779" cy="474520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algn="ctr"/>
            <a:r>
              <a:rPr lang="en-US" sz="1534" i="1" dirty="0">
                <a:solidFill>
                  <a:srgbClr val="F26A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 airway noisy or silent?</a:t>
            </a:r>
            <a:endParaRPr lang="en-US" sz="1534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CBDE064-D5DF-7ADE-A52F-11CE32AF676B}"/>
              </a:ext>
            </a:extLst>
          </p:cNvPr>
          <p:cNvSpPr/>
          <p:nvPr/>
        </p:nvSpPr>
        <p:spPr>
          <a:xfrm>
            <a:off x="1811887" y="12880209"/>
            <a:ext cx="2507853" cy="679937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Noisy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= partially obstructed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Bubbling -&gt; check for fluid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Snoring -&gt; tongue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blockage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72417B4E-BDD2-C677-39A0-5CFC5CBF4343}"/>
              </a:ext>
            </a:extLst>
          </p:cNvPr>
          <p:cNvSpPr/>
          <p:nvPr/>
        </p:nvSpPr>
        <p:spPr>
          <a:xfrm>
            <a:off x="5248337" y="12877691"/>
            <a:ext cx="3724599" cy="679937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hard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structures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aw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heek bones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eeth)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tissue (lips, tongue, larynx, nose – milk for signs of bleeding)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49CF0105-BA24-2B38-6BDA-7DBB9C9FBEC3}"/>
              </a:ext>
            </a:extLst>
          </p:cNvPr>
          <p:cNvSpPr/>
          <p:nvPr/>
        </p:nvSpPr>
        <p:spPr>
          <a:xfrm flipV="1">
            <a:off x="1602300" y="13526362"/>
            <a:ext cx="11401161" cy="63575"/>
          </a:xfrm>
          <a:prstGeom prst="line">
            <a:avLst/>
          </a:prstGeom>
          <a:noFill/>
          <a:ln w="5080">
            <a:solidFill>
              <a:srgbClr val="F26A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F775EC85-856A-46AE-24F6-807D5D689D54}"/>
              </a:ext>
            </a:extLst>
          </p:cNvPr>
          <p:cNvSpPr/>
          <p:nvPr/>
        </p:nvSpPr>
        <p:spPr>
          <a:xfrm>
            <a:off x="5234354" y="13781353"/>
            <a:ext cx="2955279" cy="676056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Create an airway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Head tilt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chin lift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33464EFE-22D4-4323-F6C1-7D7D6F7F3044}"/>
              </a:ext>
            </a:extLst>
          </p:cNvPr>
          <p:cNvSpPr/>
          <p:nvPr/>
        </p:nvSpPr>
        <p:spPr>
          <a:xfrm>
            <a:off x="1299537" y="14918161"/>
            <a:ext cx="11719560" cy="2169272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7A2C95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C72CF91D-A3A4-E3B2-853D-EC6FB29175FF}"/>
              </a:ext>
            </a:extLst>
          </p:cNvPr>
          <p:cNvSpPr/>
          <p:nvPr/>
        </p:nvSpPr>
        <p:spPr>
          <a:xfrm>
            <a:off x="1299537" y="14918160"/>
            <a:ext cx="3539046" cy="472542"/>
          </a:xfrm>
          <a:prstGeom prst="rect">
            <a:avLst/>
          </a:prstGeom>
          <a:solidFill>
            <a:srgbClr val="7030A0"/>
          </a:solidFill>
          <a:ln w="12700">
            <a:solidFill>
              <a:srgbClr val="006AB6"/>
            </a:solidFill>
            <a:prstDash val="solid"/>
          </a:ln>
        </p:spPr>
        <p:txBody>
          <a:bodyPr anchor="ctr"/>
          <a:lstStyle/>
          <a:p>
            <a:r>
              <a:rPr lang="en-GB" sz="857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GB" sz="857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Breathing</a:t>
            </a: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DC17768A-95DC-F447-CE32-048897A8F0AE}"/>
              </a:ext>
            </a:extLst>
          </p:cNvPr>
          <p:cNvSpPr/>
          <p:nvPr/>
        </p:nvSpPr>
        <p:spPr>
          <a:xfrm>
            <a:off x="4847714" y="14905984"/>
            <a:ext cx="2993954" cy="470545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algn="ctr"/>
            <a:r>
              <a:rPr lang="en-US" sz="1534" i="1" dirty="0">
                <a:solidFill>
                  <a:srgbClr val="7A2C95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Expose chest</a:t>
            </a:r>
            <a:r>
              <a:rPr lang="en-US" sz="1534" i="1" dirty="0">
                <a:solidFill>
                  <a:srgbClr val="7A2C9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34" i="1" dirty="0">
                <a:solidFill>
                  <a:srgbClr val="7A2C95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to waistline, if possible. </a:t>
            </a:r>
            <a:endParaRPr lang="en-US" sz="1534" i="1" dirty="0">
              <a:solidFill>
                <a:srgbClr val="7A2C9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F650FFD-41DC-790E-87BA-262B4AFC3BF5}"/>
              </a:ext>
            </a:extLst>
          </p:cNvPr>
          <p:cNvSpPr/>
          <p:nvPr/>
        </p:nvSpPr>
        <p:spPr>
          <a:xfrm>
            <a:off x="1522359" y="15514105"/>
            <a:ext cx="3775600" cy="1787519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R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ate – Count the rate of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breathing</a:t>
            </a:r>
          </a:p>
          <a:p>
            <a:pPr marL="877761" lvl="1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Goalposts of life 10-30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V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olume – Assess the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volume of breathing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xygen device</a:t>
            </a:r>
          </a:p>
          <a:p>
            <a:pPr marL="877761" lvl="1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free flow or assisted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77761" lvl="1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Ventilation depending on rate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77761" lvl="1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(CD cylinder ≈ 20 min @ 15 L/min)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2B0B5B5F-A301-FF85-5E13-3C1C7F22EC34}"/>
              </a:ext>
            </a:extLst>
          </p:cNvPr>
          <p:cNvSpPr/>
          <p:nvPr/>
        </p:nvSpPr>
        <p:spPr>
          <a:xfrm flipH="1">
            <a:off x="5534461" y="15390706"/>
            <a:ext cx="0" cy="1558744"/>
          </a:xfrm>
          <a:prstGeom prst="line">
            <a:avLst/>
          </a:prstGeom>
          <a:noFill/>
          <a:ln w="5080">
            <a:solidFill>
              <a:srgbClr val="7A2C9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DF1E5C47-E126-5C2E-B809-8E827DF06F7E}"/>
              </a:ext>
            </a:extLst>
          </p:cNvPr>
          <p:cNvSpPr/>
          <p:nvPr/>
        </p:nvSpPr>
        <p:spPr>
          <a:xfrm>
            <a:off x="5769267" y="15374316"/>
            <a:ext cx="1701100" cy="1755526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 lnSpcReduction="10000"/>
          </a:bodyPr>
          <a:lstStyle/>
          <a:p>
            <a:r>
              <a:rPr lang="en-US" sz="1953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F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eel the chest</a:t>
            </a:r>
          </a:p>
          <a:p>
            <a:endParaRPr lang="en-US" sz="1396" dirty="0">
              <a:solidFill>
                <a:srgbClr val="111111"/>
              </a:solidFill>
              <a:latin typeface="Calibri" panose="020F0502020204030204" pitchFamily="34" charset="0"/>
              <a:ea typeface="Arial" pitchFamily="34" charset="-122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Holes on the chest (cover all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vent one on each side)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Chest seal to sucking chest wound</a:t>
            </a:r>
          </a:p>
          <a:p>
            <a:endParaRPr lang="en-US" sz="1396" dirty="0">
              <a:solidFill>
                <a:srgbClr val="111111"/>
              </a:solidFill>
              <a:latin typeface="Calibri" panose="020F0502020204030204" pitchFamily="34" charset="0"/>
              <a:ea typeface="Arial" pitchFamily="34" charset="-122"/>
              <a:cs typeface="Calibri" panose="020F0502020204030204" pitchFamily="34" charset="0"/>
            </a:endParaRPr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7A247967-733B-6B0F-7B88-E5A9CA75B161}"/>
              </a:ext>
            </a:extLst>
          </p:cNvPr>
          <p:cNvSpPr/>
          <p:nvPr/>
        </p:nvSpPr>
        <p:spPr>
          <a:xfrm>
            <a:off x="1297061" y="17422767"/>
            <a:ext cx="3539046" cy="47254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 anchor="ctr"/>
          <a:lstStyle/>
          <a:p>
            <a:r>
              <a:rPr lang="en-GB" sz="857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GB" sz="857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Circulation</a:t>
            </a: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154ACB47-ED76-3E76-FD39-7686439E602E}"/>
              </a:ext>
            </a:extLst>
          </p:cNvPr>
          <p:cNvSpPr/>
          <p:nvPr/>
        </p:nvSpPr>
        <p:spPr>
          <a:xfrm>
            <a:off x="1401470" y="18049415"/>
            <a:ext cx="3099142" cy="1691095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If on the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floor</a:t>
            </a:r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Stop all external bleeding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direct pressure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hemostatic gauze to junctional bleeds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elevation and indirect pressure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windlass dressing and splint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long bones and pelvis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0DA7E570-DC01-DBDA-7464-781FCD6307B7}"/>
              </a:ext>
            </a:extLst>
          </p:cNvPr>
          <p:cNvSpPr/>
          <p:nvPr/>
        </p:nvSpPr>
        <p:spPr>
          <a:xfrm>
            <a:off x="8772274" y="17556000"/>
            <a:ext cx="0" cy="2013289"/>
          </a:xfrm>
          <a:prstGeom prst="line">
            <a:avLst/>
          </a:prstGeom>
          <a:noFill/>
          <a:ln w="508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3695ECCE-A35D-BFDC-FD3C-4B83A940B6DB}"/>
              </a:ext>
            </a:extLst>
          </p:cNvPr>
          <p:cNvSpPr/>
          <p:nvPr/>
        </p:nvSpPr>
        <p:spPr>
          <a:xfrm>
            <a:off x="4836571" y="18066692"/>
            <a:ext cx="1913703" cy="1640300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If on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chest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or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abdomen:</a:t>
            </a:r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Surgeon needed asap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If on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pelvis: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Surgeon needed asap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Splint if unstable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Do NOT rock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5909F996-E702-D0AC-4D4A-80DAA080BE61}"/>
              </a:ext>
            </a:extLst>
          </p:cNvPr>
          <p:cNvSpPr/>
          <p:nvPr/>
        </p:nvSpPr>
        <p:spPr>
          <a:xfrm>
            <a:off x="8910728" y="17555995"/>
            <a:ext cx="2304929" cy="2151001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for radial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pulse:</a:t>
            </a:r>
          </a:p>
          <a:p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both sides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the rate</a:t>
            </a:r>
          </a:p>
          <a:p>
            <a:pPr marL="877761" lvl="1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Capillary refill time (CRT) &lt;2s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the volume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skin </a:t>
            </a:r>
            <a:r>
              <a:rPr lang="en-US" sz="1396" dirty="0" err="1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colour</a:t>
            </a:r>
            <a:endParaRPr lang="en-US" sz="1396" dirty="0">
              <a:solidFill>
                <a:srgbClr val="111111"/>
              </a:solidFill>
              <a:latin typeface="Calibri" panose="020F0502020204030204" pitchFamily="34" charset="0"/>
              <a:ea typeface="Arial" pitchFamily="34" charset="-122"/>
              <a:cs typeface="Calibri" panose="020F0502020204030204" pitchFamily="34" charset="0"/>
            </a:endParaRPr>
          </a:p>
          <a:p>
            <a:pPr marL="877761" lvl="1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pale and clammy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5CAC505E-46BF-5DCE-0AD6-9743F60474D5}"/>
              </a:ext>
            </a:extLst>
          </p:cNvPr>
          <p:cNvSpPr/>
          <p:nvPr/>
        </p:nvSpPr>
        <p:spPr>
          <a:xfrm flipH="1">
            <a:off x="11244867" y="17556000"/>
            <a:ext cx="23478" cy="2013289"/>
          </a:xfrm>
          <a:prstGeom prst="line">
            <a:avLst/>
          </a:prstGeom>
          <a:noFill/>
          <a:ln w="508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DA724DA7-7D48-1CBD-CECC-CEAB20A5C280}"/>
              </a:ext>
            </a:extLst>
          </p:cNvPr>
          <p:cNvSpPr/>
          <p:nvPr/>
        </p:nvSpPr>
        <p:spPr>
          <a:xfrm>
            <a:off x="11375186" y="17551477"/>
            <a:ext cx="1509833" cy="2142205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No pulse?</a:t>
            </a:r>
          </a:p>
          <a:p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legs to 45° (only if no femur/pelvis fracture)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preserve the first clot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by applying careful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pressure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4A50C51C-B09E-6E43-0673-470A0E565E4F}"/>
              </a:ext>
            </a:extLst>
          </p:cNvPr>
          <p:cNvSpPr/>
          <p:nvPr/>
        </p:nvSpPr>
        <p:spPr>
          <a:xfrm>
            <a:off x="1299537" y="20006576"/>
            <a:ext cx="11719560" cy="165355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D9C6D446-C440-59BB-6D42-2553462C1DFE}"/>
              </a:ext>
            </a:extLst>
          </p:cNvPr>
          <p:cNvSpPr/>
          <p:nvPr/>
        </p:nvSpPr>
        <p:spPr>
          <a:xfrm>
            <a:off x="1299537" y="20008910"/>
            <a:ext cx="3539046" cy="556315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 anchor="ctr"/>
          <a:lstStyle/>
          <a:p>
            <a:r>
              <a:rPr lang="en-GB" sz="857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857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Disability</a:t>
            </a:r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FC98BCC2-5C13-5F14-E8E6-790FC1200EA6}"/>
              </a:ext>
            </a:extLst>
          </p:cNvPr>
          <p:cNvSpPr/>
          <p:nvPr/>
        </p:nvSpPr>
        <p:spPr>
          <a:xfrm>
            <a:off x="4847719" y="20006574"/>
            <a:ext cx="1902559" cy="536492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Autofit/>
          </a:bodyPr>
          <a:lstStyle/>
          <a:p>
            <a:pPr algn="ctr"/>
            <a:r>
              <a:rPr lang="en-US" sz="1534" i="1" dirty="0">
                <a:solidFill>
                  <a:srgbClr val="0070C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Reassess every 5 min</a:t>
            </a:r>
            <a:endParaRPr lang="en-US" sz="1534" i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7AF09DF1-09AE-4147-0864-E612DB6399B6}"/>
              </a:ext>
            </a:extLst>
          </p:cNvPr>
          <p:cNvSpPr/>
          <p:nvPr/>
        </p:nvSpPr>
        <p:spPr>
          <a:xfrm>
            <a:off x="1496276" y="20831292"/>
            <a:ext cx="2610411" cy="701154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• Are they moving all 4 limbs?</a:t>
            </a:r>
          </a:p>
          <a:p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• Assess disability every 5 mins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98D9D71D-8465-5481-1491-A8A08638E7A2}"/>
              </a:ext>
            </a:extLst>
          </p:cNvPr>
          <p:cNvSpPr/>
          <p:nvPr/>
        </p:nvSpPr>
        <p:spPr>
          <a:xfrm>
            <a:off x="7705181" y="20266017"/>
            <a:ext cx="0" cy="1202579"/>
          </a:xfrm>
          <a:prstGeom prst="line">
            <a:avLst/>
          </a:prstGeom>
          <a:noFill/>
          <a:ln w="508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445B5921-90A1-40A3-6BE6-D146B6785101}"/>
              </a:ext>
            </a:extLst>
          </p:cNvPr>
          <p:cNvSpPr/>
          <p:nvPr/>
        </p:nvSpPr>
        <p:spPr>
          <a:xfrm>
            <a:off x="7887902" y="20157053"/>
            <a:ext cx="2578864" cy="1375385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PEARL: </a:t>
            </a:r>
          </a:p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upils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qual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nd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R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eactive to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L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ight</a:t>
            </a:r>
          </a:p>
          <a:p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Assess analgesia need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Pain score 1–10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B3E43DC4-4020-9035-12FC-C7651179EC7F}"/>
              </a:ext>
            </a:extLst>
          </p:cNvPr>
          <p:cNvSpPr/>
          <p:nvPr/>
        </p:nvSpPr>
        <p:spPr>
          <a:xfrm>
            <a:off x="10504339" y="20266017"/>
            <a:ext cx="0" cy="1202579"/>
          </a:xfrm>
          <a:prstGeom prst="line">
            <a:avLst/>
          </a:prstGeom>
          <a:noFill/>
          <a:ln w="508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3C7067A5-0F8B-5A1E-8F1A-AB0E8D45F85B}"/>
              </a:ext>
            </a:extLst>
          </p:cNvPr>
          <p:cNvSpPr/>
          <p:nvPr/>
        </p:nvSpPr>
        <p:spPr>
          <a:xfrm>
            <a:off x="10701576" y="20179533"/>
            <a:ext cx="2231323" cy="1352900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Consider Penthrox –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ABACKPAC</a:t>
            </a:r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Questions: check safe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with 2nd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A9F0C248-7CDF-0EB0-10F6-94CFF635CD96}"/>
              </a:ext>
            </a:extLst>
          </p:cNvPr>
          <p:cNvSpPr/>
          <p:nvPr/>
        </p:nvSpPr>
        <p:spPr>
          <a:xfrm>
            <a:off x="1299537" y="21928523"/>
            <a:ext cx="11719560" cy="129323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21A21609-4EED-5D13-FEC0-0D119F52886E}"/>
              </a:ext>
            </a:extLst>
          </p:cNvPr>
          <p:cNvSpPr/>
          <p:nvPr/>
        </p:nvSpPr>
        <p:spPr>
          <a:xfrm>
            <a:off x="1299537" y="21928525"/>
            <a:ext cx="3539046" cy="47254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r>
              <a:rPr lang="en-GB" sz="857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GB" sz="857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Exposure/Evacuation</a:t>
            </a:r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327D2EC8-EBA0-BB9C-1D0D-FEA16BECC4F1}"/>
              </a:ext>
            </a:extLst>
          </p:cNvPr>
          <p:cNvSpPr/>
          <p:nvPr/>
        </p:nvSpPr>
        <p:spPr>
          <a:xfrm>
            <a:off x="1542711" y="22627880"/>
            <a:ext cx="2925324" cy="493630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Do not overexpose patient to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element, risk of hypothermia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233CCD01-0D26-E39D-672F-9F86519CC69D}"/>
              </a:ext>
            </a:extLst>
          </p:cNvPr>
          <p:cNvSpPr/>
          <p:nvPr/>
        </p:nvSpPr>
        <p:spPr>
          <a:xfrm>
            <a:off x="4848127" y="22595676"/>
            <a:ext cx="0" cy="485210"/>
          </a:xfrm>
          <a:prstGeom prst="line">
            <a:avLst/>
          </a:prstGeom>
          <a:noFill/>
          <a:ln w="508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D921E152-0C70-2302-E408-386408793204}"/>
              </a:ext>
            </a:extLst>
          </p:cNvPr>
          <p:cNvSpPr/>
          <p:nvPr/>
        </p:nvSpPr>
        <p:spPr>
          <a:xfrm>
            <a:off x="5711683" y="22654896"/>
            <a:ext cx="1355597" cy="268400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Keep them warm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8547D78B-16C9-C9F4-DE9C-0F776106CE77}"/>
              </a:ext>
            </a:extLst>
          </p:cNvPr>
          <p:cNvSpPr/>
          <p:nvPr/>
        </p:nvSpPr>
        <p:spPr>
          <a:xfrm>
            <a:off x="7727751" y="22595676"/>
            <a:ext cx="0" cy="485210"/>
          </a:xfrm>
          <a:prstGeom prst="line">
            <a:avLst/>
          </a:prstGeom>
          <a:noFill/>
          <a:ln w="508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1E136177-2CAD-BAA8-57AE-27BF0739374C}"/>
              </a:ext>
            </a:extLst>
          </p:cNvPr>
          <p:cNvSpPr/>
          <p:nvPr/>
        </p:nvSpPr>
        <p:spPr>
          <a:xfrm>
            <a:off x="8249328" y="22651104"/>
            <a:ext cx="1447218" cy="275982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Protect the head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22755543-24AB-4D98-674C-475C233844F1}"/>
              </a:ext>
            </a:extLst>
          </p:cNvPr>
          <p:cNvSpPr/>
          <p:nvPr/>
        </p:nvSpPr>
        <p:spPr>
          <a:xfrm>
            <a:off x="10576520" y="22654896"/>
            <a:ext cx="1993288" cy="268400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Prepare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evacuation route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Shape 5">
            <a:extLst>
              <a:ext uri="{FF2B5EF4-FFF2-40B4-BE49-F238E27FC236}">
                <a16:creationId xmlns:a16="http://schemas.microsoft.com/office/drawing/2014/main" id="{A1388D25-EB4A-1EEC-80B5-5B0F12F85B86}"/>
              </a:ext>
            </a:extLst>
          </p:cNvPr>
          <p:cNvSpPr/>
          <p:nvPr/>
        </p:nvSpPr>
        <p:spPr>
          <a:xfrm>
            <a:off x="9236789" y="6261277"/>
            <a:ext cx="0" cy="1379026"/>
          </a:xfrm>
          <a:prstGeom prst="line">
            <a:avLst/>
          </a:prstGeom>
          <a:noFill/>
          <a:ln w="8890">
            <a:solidFill>
              <a:srgbClr val="052C6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2FAC3EDC-CA70-0852-F982-6539735093E9}"/>
              </a:ext>
            </a:extLst>
          </p:cNvPr>
          <p:cNvSpPr/>
          <p:nvPr/>
        </p:nvSpPr>
        <p:spPr>
          <a:xfrm>
            <a:off x="5066915" y="6490804"/>
            <a:ext cx="3906023" cy="1098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for Safety 1-2-3</a:t>
            </a:r>
          </a:p>
          <a:p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 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You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- put on gloves/glasses immediately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 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Environment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- is there a crowd/other vehicles?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19187" indent="-319187">
              <a:buFont typeface="+mj-lt"/>
              <a:buAutoNum type="arabicPeriod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 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Patient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- are they being aggressive?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Text 43">
            <a:extLst>
              <a:ext uri="{FF2B5EF4-FFF2-40B4-BE49-F238E27FC236}">
                <a16:creationId xmlns:a16="http://schemas.microsoft.com/office/drawing/2014/main" id="{253CE075-DBC0-15A2-C1BD-17F297729FC2}"/>
              </a:ext>
            </a:extLst>
          </p:cNvPr>
          <p:cNvSpPr/>
          <p:nvPr/>
        </p:nvSpPr>
        <p:spPr>
          <a:xfrm>
            <a:off x="5006036" y="10311968"/>
            <a:ext cx="2897503" cy="1654485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Manual In-Line Stabilisation (MILS)</a:t>
            </a:r>
          </a:p>
          <a:p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Stabilize head and neck with:</a:t>
            </a:r>
          </a:p>
          <a:p>
            <a:pPr marL="877761" lvl="1" indent="-239386">
              <a:buFont typeface="Wingdings" pitchFamily="2" charset="2"/>
              <a:buChar char="Ø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k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nees (if possible)</a:t>
            </a:r>
          </a:p>
          <a:p>
            <a:pPr marL="877761" lvl="1" indent="-239386">
              <a:buFont typeface="Wingdings" pitchFamily="2" charset="2"/>
              <a:buChar char="Ø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one hand </a:t>
            </a:r>
          </a:p>
          <a:p>
            <a:pPr marL="877761" lvl="1" indent="-239386">
              <a:buFont typeface="Wingdings" pitchFamily="2" charset="2"/>
              <a:buChar char="Ø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nearby equipment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Shape 46">
            <a:extLst>
              <a:ext uri="{FF2B5EF4-FFF2-40B4-BE49-F238E27FC236}">
                <a16:creationId xmlns:a16="http://schemas.microsoft.com/office/drawing/2014/main" id="{8950E1C5-EC95-993D-8721-890E759CA530}"/>
              </a:ext>
            </a:extLst>
          </p:cNvPr>
          <p:cNvSpPr/>
          <p:nvPr/>
        </p:nvSpPr>
        <p:spPr>
          <a:xfrm flipH="1">
            <a:off x="4840896" y="10874737"/>
            <a:ext cx="0" cy="1091721"/>
          </a:xfrm>
          <a:prstGeom prst="line">
            <a:avLst/>
          </a:prstGeom>
          <a:noFill/>
          <a:ln w="5080">
            <a:solidFill>
              <a:srgbClr val="D817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Text 57">
            <a:extLst>
              <a:ext uri="{FF2B5EF4-FFF2-40B4-BE49-F238E27FC236}">
                <a16:creationId xmlns:a16="http://schemas.microsoft.com/office/drawing/2014/main" id="{70A2F97C-9022-F824-F2B0-B1945EA7B2B7}"/>
              </a:ext>
            </a:extLst>
          </p:cNvPr>
          <p:cNvSpPr/>
          <p:nvPr/>
        </p:nvSpPr>
        <p:spPr>
          <a:xfrm>
            <a:off x="1811887" y="13725086"/>
            <a:ext cx="2294804" cy="844151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Silent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= complete obstruction</a:t>
            </a:r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back blows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chest thrusts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 55">
            <a:extLst>
              <a:ext uri="{FF2B5EF4-FFF2-40B4-BE49-F238E27FC236}">
                <a16:creationId xmlns:a16="http://schemas.microsoft.com/office/drawing/2014/main" id="{5A6BB36A-5024-793F-A5A9-E9C936963A6F}"/>
              </a:ext>
            </a:extLst>
          </p:cNvPr>
          <p:cNvSpPr/>
          <p:nvPr/>
        </p:nvSpPr>
        <p:spPr>
          <a:xfrm>
            <a:off x="9765591" y="12862667"/>
            <a:ext cx="3088349" cy="866379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Open mouth and clear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oreign objects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For blood/vomit, use postural drainage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then suction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Text 57">
            <a:extLst>
              <a:ext uri="{FF2B5EF4-FFF2-40B4-BE49-F238E27FC236}">
                <a16:creationId xmlns:a16="http://schemas.microsoft.com/office/drawing/2014/main" id="{3071E1AE-B6B9-6111-E94D-605E22252F10}"/>
              </a:ext>
            </a:extLst>
          </p:cNvPr>
          <p:cNvSpPr/>
          <p:nvPr/>
        </p:nvSpPr>
        <p:spPr>
          <a:xfrm>
            <a:off x="9765595" y="13656601"/>
            <a:ext cx="3088084" cy="957409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If struggling, consider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 err="1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x2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NPA (6 Female / 7 Male)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OP tube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Keep going manually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64DDC18-6269-F4BE-9517-FF311E19CE73}"/>
              </a:ext>
            </a:extLst>
          </p:cNvPr>
          <p:cNvCxnSpPr>
            <a:cxnSpLocks/>
          </p:cNvCxnSpPr>
          <p:nvPr/>
        </p:nvCxnSpPr>
        <p:spPr>
          <a:xfrm>
            <a:off x="4421600" y="13154119"/>
            <a:ext cx="528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Shape 26">
            <a:extLst>
              <a:ext uri="{FF2B5EF4-FFF2-40B4-BE49-F238E27FC236}">
                <a16:creationId xmlns:a16="http://schemas.microsoft.com/office/drawing/2014/main" id="{3FCF858A-3EC7-13A7-8C7B-7F88883C7C0B}"/>
              </a:ext>
            </a:extLst>
          </p:cNvPr>
          <p:cNvSpPr/>
          <p:nvPr/>
        </p:nvSpPr>
        <p:spPr>
          <a:xfrm>
            <a:off x="7285996" y="8456556"/>
            <a:ext cx="1518169" cy="678651"/>
          </a:xfrm>
          <a:prstGeom prst="roundRect">
            <a:avLst>
              <a:gd name="adj" fmla="val 20833"/>
            </a:avLst>
          </a:prstGeom>
          <a:solidFill>
            <a:srgbClr val="00B05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GB" sz="279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CA422F9-F10E-378C-C4F6-7B479E818E3A}"/>
              </a:ext>
            </a:extLst>
          </p:cNvPr>
          <p:cNvCxnSpPr>
            <a:cxnSpLocks/>
          </p:cNvCxnSpPr>
          <p:nvPr/>
        </p:nvCxnSpPr>
        <p:spPr>
          <a:xfrm>
            <a:off x="9039818" y="13154598"/>
            <a:ext cx="528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F581818-5DF1-65C2-D1B0-5874FAD70CDD}"/>
              </a:ext>
            </a:extLst>
          </p:cNvPr>
          <p:cNvCxnSpPr>
            <a:cxnSpLocks/>
          </p:cNvCxnSpPr>
          <p:nvPr/>
        </p:nvCxnSpPr>
        <p:spPr>
          <a:xfrm>
            <a:off x="4421600" y="14147152"/>
            <a:ext cx="528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9BC37D3-D312-B7F9-D414-C3CE6F092ED4}"/>
              </a:ext>
            </a:extLst>
          </p:cNvPr>
          <p:cNvCxnSpPr>
            <a:cxnSpLocks/>
          </p:cNvCxnSpPr>
          <p:nvPr/>
        </p:nvCxnSpPr>
        <p:spPr>
          <a:xfrm>
            <a:off x="9024802" y="14035393"/>
            <a:ext cx="528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Shape 46">
            <a:extLst>
              <a:ext uri="{FF2B5EF4-FFF2-40B4-BE49-F238E27FC236}">
                <a16:creationId xmlns:a16="http://schemas.microsoft.com/office/drawing/2014/main" id="{1B56631E-EB02-E5C2-575D-A94E82F52ADE}"/>
              </a:ext>
            </a:extLst>
          </p:cNvPr>
          <p:cNvSpPr/>
          <p:nvPr/>
        </p:nvSpPr>
        <p:spPr>
          <a:xfrm>
            <a:off x="7903539" y="10329473"/>
            <a:ext cx="0" cy="1607192"/>
          </a:xfrm>
          <a:prstGeom prst="line">
            <a:avLst/>
          </a:prstGeom>
          <a:noFill/>
          <a:ln w="5080">
            <a:solidFill>
              <a:srgbClr val="D817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Shape 46">
            <a:extLst>
              <a:ext uri="{FF2B5EF4-FFF2-40B4-BE49-F238E27FC236}">
                <a16:creationId xmlns:a16="http://schemas.microsoft.com/office/drawing/2014/main" id="{6CFDE094-30BB-1C8D-F6E0-4E4D2F35395F}"/>
              </a:ext>
            </a:extLst>
          </p:cNvPr>
          <p:cNvSpPr/>
          <p:nvPr/>
        </p:nvSpPr>
        <p:spPr>
          <a:xfrm>
            <a:off x="10287059" y="10341765"/>
            <a:ext cx="0" cy="1607192"/>
          </a:xfrm>
          <a:prstGeom prst="line">
            <a:avLst/>
          </a:prstGeom>
          <a:noFill/>
          <a:ln w="5080">
            <a:solidFill>
              <a:srgbClr val="D817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Text 65">
            <a:extLst>
              <a:ext uri="{FF2B5EF4-FFF2-40B4-BE49-F238E27FC236}">
                <a16:creationId xmlns:a16="http://schemas.microsoft.com/office/drawing/2014/main" id="{3727684E-7521-860C-5E78-CFF18FE755AE}"/>
              </a:ext>
            </a:extLst>
          </p:cNvPr>
          <p:cNvSpPr/>
          <p:nvPr/>
        </p:nvSpPr>
        <p:spPr>
          <a:xfrm>
            <a:off x="7705186" y="15374315"/>
            <a:ext cx="1677604" cy="1826160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953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ook at the chest</a:t>
            </a:r>
          </a:p>
          <a:p>
            <a:endParaRPr lang="en-US" sz="1396" dirty="0">
              <a:solidFill>
                <a:srgbClr val="111111"/>
              </a:solidFill>
              <a:latin typeface="Calibri" panose="020F0502020204030204" pitchFamily="34" charset="0"/>
              <a:ea typeface="Arial" pitchFamily="34" charset="-122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Pattern bruising on the chest (internal problem)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Text 65">
            <a:extLst>
              <a:ext uri="{FF2B5EF4-FFF2-40B4-BE49-F238E27FC236}">
                <a16:creationId xmlns:a16="http://schemas.microsoft.com/office/drawing/2014/main" id="{D3144E63-2E6A-D414-C72E-80B6A4CCA63E}"/>
              </a:ext>
            </a:extLst>
          </p:cNvPr>
          <p:cNvSpPr/>
          <p:nvPr/>
        </p:nvSpPr>
        <p:spPr>
          <a:xfrm>
            <a:off x="9505871" y="15374316"/>
            <a:ext cx="1195709" cy="1821141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953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rmpits</a:t>
            </a:r>
          </a:p>
        </p:txBody>
      </p:sp>
      <p:sp>
        <p:nvSpPr>
          <p:cNvPr id="141" name="Text 65">
            <a:extLst>
              <a:ext uri="{FF2B5EF4-FFF2-40B4-BE49-F238E27FC236}">
                <a16:creationId xmlns:a16="http://schemas.microsoft.com/office/drawing/2014/main" id="{BE2CA291-DA91-7CB5-0271-4084EDFA6BDF}"/>
              </a:ext>
            </a:extLst>
          </p:cNvPr>
          <p:cNvSpPr/>
          <p:nvPr/>
        </p:nvSpPr>
        <p:spPr>
          <a:xfrm>
            <a:off x="10642575" y="15374316"/>
            <a:ext cx="1195701" cy="1821141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953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earch </a:t>
            </a:r>
          </a:p>
          <a:p>
            <a:endParaRPr lang="en-US" sz="1396" dirty="0">
              <a:solidFill>
                <a:srgbClr val="111111"/>
              </a:solidFill>
              <a:latin typeface="Calibri" panose="020F0502020204030204" pitchFamily="34" charset="0"/>
              <a:ea typeface="Arial" pitchFamily="34" charset="-122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Back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Sides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Shoulders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clavicles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Text 65">
            <a:extLst>
              <a:ext uri="{FF2B5EF4-FFF2-40B4-BE49-F238E27FC236}">
                <a16:creationId xmlns:a16="http://schemas.microsoft.com/office/drawing/2014/main" id="{8EC1CA44-117A-1ACF-0D76-2F8271C636F6}"/>
              </a:ext>
            </a:extLst>
          </p:cNvPr>
          <p:cNvSpPr/>
          <p:nvPr/>
        </p:nvSpPr>
        <p:spPr>
          <a:xfrm>
            <a:off x="11926490" y="15374315"/>
            <a:ext cx="621303" cy="963328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rmAutofit/>
          </a:bodyPr>
          <a:lstStyle/>
          <a:p>
            <a:r>
              <a:rPr lang="en-US" sz="1953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H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oles</a:t>
            </a:r>
          </a:p>
        </p:txBody>
      </p:sp>
      <p:sp>
        <p:nvSpPr>
          <p:cNvPr id="144" name="Text 62">
            <a:extLst>
              <a:ext uri="{FF2B5EF4-FFF2-40B4-BE49-F238E27FC236}">
                <a16:creationId xmlns:a16="http://schemas.microsoft.com/office/drawing/2014/main" id="{03ECC462-EC5D-8FE7-4909-E9C44A1582D4}"/>
              </a:ext>
            </a:extLst>
          </p:cNvPr>
          <p:cNvSpPr/>
          <p:nvPr/>
        </p:nvSpPr>
        <p:spPr>
          <a:xfrm>
            <a:off x="4838336" y="17437933"/>
            <a:ext cx="3049563" cy="470545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algn="ctr"/>
            <a:r>
              <a:rPr lang="en-US" sz="1534" i="1" dirty="0">
                <a:solidFill>
                  <a:srgbClr val="00B05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Check for location of blood and pulse.</a:t>
            </a:r>
            <a:endParaRPr lang="en-US" sz="1534" i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Text 74">
            <a:extLst>
              <a:ext uri="{FF2B5EF4-FFF2-40B4-BE49-F238E27FC236}">
                <a16:creationId xmlns:a16="http://schemas.microsoft.com/office/drawing/2014/main" id="{3B63FDE6-1EB1-6E45-D2F3-7BB53005833D}"/>
              </a:ext>
            </a:extLst>
          </p:cNvPr>
          <p:cNvSpPr/>
          <p:nvPr/>
        </p:nvSpPr>
        <p:spPr>
          <a:xfrm>
            <a:off x="7000987" y="18066692"/>
            <a:ext cx="1659025" cy="1640300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If on </a:t>
            </a: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long bones:</a:t>
            </a:r>
            <a:endParaRPr lang="en-US" sz="1396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femur alignment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(hip, knee, 2nd toe)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endParaRPr lang="en-US" sz="1396" dirty="0">
              <a:solidFill>
                <a:srgbClr val="11111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Look for signs of internal</a:t>
            </a:r>
            <a:r>
              <a:rPr lang="en-US" sz="139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bleeding </a:t>
            </a: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pattern bruising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A5D19C40-CEB0-8113-88B0-58BABD214C3C}"/>
              </a:ext>
            </a:extLst>
          </p:cNvPr>
          <p:cNvSpPr/>
          <p:nvPr/>
        </p:nvSpPr>
        <p:spPr>
          <a:xfrm>
            <a:off x="5262775" y="20565217"/>
            <a:ext cx="2384043" cy="967216"/>
          </a:xfrm>
          <a:prstGeom prst="rect">
            <a:avLst/>
          </a:prstGeom>
          <a:noFill/>
          <a:ln/>
        </p:spPr>
        <p:txBody>
          <a:bodyPr wrap="square" lIns="351" tIns="351" rIns="351" bIns="351" rtlCol="0" anchor="t">
            <a:noAutofit/>
          </a:bodyPr>
          <a:lstStyle/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lert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V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erbal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P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ain (airway concern)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9386" indent="-239386">
              <a:buFont typeface="Arial" panose="020B0604020202020204" pitchFamily="34" charset="0"/>
              <a:buChar char="•"/>
            </a:pPr>
            <a:r>
              <a:rPr lang="en-US" sz="1396" b="1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U</a:t>
            </a:r>
            <a:r>
              <a:rPr lang="en-US" sz="1396" dirty="0">
                <a:solidFill>
                  <a:srgbClr val="111111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nresponsive to pain</a:t>
            </a:r>
            <a:endParaRPr lang="en-US" sz="1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" name="Text 51">
            <a:extLst>
              <a:ext uri="{FF2B5EF4-FFF2-40B4-BE49-F238E27FC236}">
                <a16:creationId xmlns:a16="http://schemas.microsoft.com/office/drawing/2014/main" id="{16B45FB4-B078-FDD6-6E37-BD5EE4E114D4}"/>
              </a:ext>
            </a:extLst>
          </p:cNvPr>
          <p:cNvSpPr/>
          <p:nvPr/>
        </p:nvSpPr>
        <p:spPr>
          <a:xfrm>
            <a:off x="4873147" y="21926550"/>
            <a:ext cx="2407779" cy="474520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algn="ctr"/>
            <a:endParaRPr lang="en-US" sz="1534" i="1" dirty="0">
              <a:solidFill>
                <a:srgbClr val="008B3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651C1C49-E379-CD12-C791-E80AEB0D7A56}"/>
              </a:ext>
            </a:extLst>
          </p:cNvPr>
          <p:cNvSpPr/>
          <p:nvPr/>
        </p:nvSpPr>
        <p:spPr>
          <a:xfrm>
            <a:off x="4832073" y="21932709"/>
            <a:ext cx="2895670" cy="474520"/>
          </a:xfrm>
          <a:prstGeom prst="rect">
            <a:avLst/>
          </a:prstGeom>
          <a:noFill/>
          <a:ln/>
        </p:spPr>
        <p:txBody>
          <a:bodyPr wrap="square" lIns="180" tIns="180" rIns="180" bIns="180" rtlCol="0" anchor="ctr">
            <a:normAutofit/>
          </a:bodyPr>
          <a:lstStyle/>
          <a:p>
            <a:pPr algn="ctr"/>
            <a:r>
              <a:rPr lang="en-US" sz="1534" i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Keep warm, pack, wrap, evacuate</a:t>
            </a:r>
          </a:p>
        </p:txBody>
      </p:sp>
      <p:sp>
        <p:nvSpPr>
          <p:cNvPr id="152" name="Shape 97">
            <a:extLst>
              <a:ext uri="{FF2B5EF4-FFF2-40B4-BE49-F238E27FC236}">
                <a16:creationId xmlns:a16="http://schemas.microsoft.com/office/drawing/2014/main" id="{F8355199-6F81-0B05-EF8F-EDBCFDA67441}"/>
              </a:ext>
            </a:extLst>
          </p:cNvPr>
          <p:cNvSpPr/>
          <p:nvPr/>
        </p:nvSpPr>
        <p:spPr>
          <a:xfrm>
            <a:off x="10011515" y="22559940"/>
            <a:ext cx="0" cy="485210"/>
          </a:xfrm>
          <a:prstGeom prst="line">
            <a:avLst/>
          </a:prstGeom>
          <a:noFill/>
          <a:ln w="508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GB" sz="139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09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511633-6B7F-C8FA-A5C3-332539009B08}"/>
              </a:ext>
            </a:extLst>
          </p:cNvPr>
          <p:cNvSpPr/>
          <p:nvPr/>
        </p:nvSpPr>
        <p:spPr>
          <a:xfrm>
            <a:off x="1168400" y="496410"/>
            <a:ext cx="11988800" cy="2048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198" dirty="0">
                <a:solidFill>
                  <a:schemeClr val="tx1"/>
                </a:solidFill>
              </a:rPr>
              <a:t>TURRET 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864DD5-F22C-7A2E-CB57-2F698F99C7DD}"/>
              </a:ext>
            </a:extLst>
          </p:cNvPr>
          <p:cNvSpPr/>
          <p:nvPr/>
        </p:nvSpPr>
        <p:spPr>
          <a:xfrm>
            <a:off x="1525623" y="779655"/>
            <a:ext cx="3172069" cy="15542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198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DDFB4-0D32-FFC4-E6B8-5A1FF4F38A94}"/>
              </a:ext>
            </a:extLst>
          </p:cNvPr>
          <p:cNvSpPr/>
          <p:nvPr/>
        </p:nvSpPr>
        <p:spPr>
          <a:xfrm>
            <a:off x="9647162" y="808400"/>
            <a:ext cx="2503741" cy="15542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198" dirty="0">
                <a:solidFill>
                  <a:schemeClr val="tx1"/>
                </a:solidFill>
              </a:rPr>
              <a:t>CONTACT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010AD-AD9F-13B5-6613-C9BBAB4A4929}"/>
              </a:ext>
            </a:extLst>
          </p:cNvPr>
          <p:cNvSpPr/>
          <p:nvPr/>
        </p:nvSpPr>
        <p:spPr>
          <a:xfrm>
            <a:off x="1168400" y="3997339"/>
            <a:ext cx="11988800" cy="9168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198" dirty="0">
                <a:solidFill>
                  <a:schemeClr val="tx1"/>
                </a:solidFill>
              </a:rPr>
              <a:t>EMERGENCY GUIDES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F6FF42-55F9-590C-8B6E-0CAAFBBB991F}"/>
              </a:ext>
            </a:extLst>
          </p:cNvPr>
          <p:cNvSpPr/>
          <p:nvPr/>
        </p:nvSpPr>
        <p:spPr>
          <a:xfrm>
            <a:off x="1168400" y="15209628"/>
            <a:ext cx="11988800" cy="9168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198" dirty="0" err="1">
                <a:solidFill>
                  <a:schemeClr val="tx1"/>
                </a:solidFill>
              </a:rPr>
              <a:t>D13</a:t>
            </a:r>
            <a:r>
              <a:rPr lang="en-GB" sz="3198" dirty="0">
                <a:solidFill>
                  <a:schemeClr val="tx1"/>
                </a:solidFill>
              </a:rPr>
              <a:t> TRAINING COURSE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404EDB-FDF9-87DC-1127-4C1451CFCBB3}"/>
              </a:ext>
            </a:extLst>
          </p:cNvPr>
          <p:cNvGrpSpPr/>
          <p:nvPr/>
        </p:nvGrpSpPr>
        <p:grpSpPr>
          <a:xfrm>
            <a:off x="1168400" y="26150612"/>
            <a:ext cx="11988800" cy="2048932"/>
            <a:chOff x="-574571" y="26150612"/>
            <a:chExt cx="15188991" cy="20489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CFDBF5-3BB3-504F-BCB3-998AF22FDABE}"/>
                </a:ext>
              </a:extLst>
            </p:cNvPr>
            <p:cNvSpPr/>
            <p:nvPr/>
          </p:nvSpPr>
          <p:spPr>
            <a:xfrm>
              <a:off x="-574571" y="26150612"/>
              <a:ext cx="15188991" cy="20489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198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5D2A5D-E144-E98C-D299-2AE5C50639C5}"/>
                </a:ext>
              </a:extLst>
            </p:cNvPr>
            <p:cNvSpPr/>
            <p:nvPr/>
          </p:nvSpPr>
          <p:spPr>
            <a:xfrm>
              <a:off x="-400529" y="26397958"/>
              <a:ext cx="3172069" cy="15542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98" dirty="0">
                  <a:solidFill>
                    <a:schemeClr val="tx1"/>
                  </a:solidFill>
                </a:rPr>
                <a:t>HOME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72713D-E744-F79B-79E3-A23CEB84DEF6}"/>
                </a:ext>
              </a:extLst>
            </p:cNvPr>
            <p:cNvSpPr/>
            <p:nvPr/>
          </p:nvSpPr>
          <p:spPr>
            <a:xfrm>
              <a:off x="3314858" y="26397958"/>
              <a:ext cx="3172069" cy="15542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98" dirty="0">
                  <a:solidFill>
                    <a:schemeClr val="tx1"/>
                  </a:solidFill>
                </a:rPr>
                <a:t>EMERGENCY GUIDES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CF73A6-28A8-2357-1CE9-23CDFC6DD171}"/>
                </a:ext>
              </a:extLst>
            </p:cNvPr>
            <p:cNvSpPr/>
            <p:nvPr/>
          </p:nvSpPr>
          <p:spPr>
            <a:xfrm>
              <a:off x="7019925" y="26397958"/>
              <a:ext cx="3172069" cy="15542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98" dirty="0" err="1">
                  <a:solidFill>
                    <a:schemeClr val="tx1"/>
                  </a:solidFill>
                </a:rPr>
                <a:t>D13</a:t>
              </a:r>
              <a:endParaRPr lang="en-GB" sz="3198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4046AE-9948-FEAF-2F3F-84F28382FC23}"/>
                </a:ext>
              </a:extLst>
            </p:cNvPr>
            <p:cNvSpPr/>
            <p:nvPr/>
          </p:nvSpPr>
          <p:spPr>
            <a:xfrm>
              <a:off x="10899033" y="26397958"/>
              <a:ext cx="3172069" cy="15542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98" dirty="0">
                  <a:solidFill>
                    <a:schemeClr val="tx1"/>
                  </a:solidFill>
                </a:rPr>
                <a:t>HELP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6472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315</TotalTime>
  <Words>583</Words>
  <Application>Microsoft Macintosh PowerPoint</Application>
  <PresentationFormat>Custom</PresentationFormat>
  <Paragraphs>155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2013 - 2022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Aid Quick Reference Guide</dc:title>
  <dc:subject>First aid quick reference guide</dc:subject>
  <dc:creator>OpenAI</dc:creator>
  <cp:lastModifiedBy>Anna Menikou</cp:lastModifiedBy>
  <cp:revision>38</cp:revision>
  <dcterms:created xsi:type="dcterms:W3CDTF">2026-07-14T10:42:59Z</dcterms:created>
  <dcterms:modified xsi:type="dcterms:W3CDTF">2026-07-15T09:57:54Z</dcterms:modified>
</cp:coreProperties>
</file>